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95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81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73152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Normalizado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tblLeads → TNFG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relacional ·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ejecutiva y detalle técnico del modelo destino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490472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Text 9"/>
          <p:cNvSpPr/>
          <p:nvPr/>
        </p:nvSpPr>
        <p:spPr>
          <a:xfrm>
            <a:off x="685800" y="158191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5880" y="15453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174650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normalizar tblLeads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020824"/>
            <a:ext cx="813816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Text 13"/>
          <p:cNvSpPr/>
          <p:nvPr/>
        </p:nvSpPr>
        <p:spPr>
          <a:xfrm>
            <a:off x="685800" y="21122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2588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modelo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25880" y="22768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Capas, entidades y relaciones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2551176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Text 17"/>
          <p:cNvSpPr/>
          <p:nvPr/>
        </p:nvSpPr>
        <p:spPr>
          <a:xfrm>
            <a:off x="685800" y="2642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25880" y="2606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tablas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25880" y="28072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almacena cada tabla del modelo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3081528"/>
            <a:ext cx="813816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Text 21"/>
          <p:cNvSpPr/>
          <p:nvPr/>
        </p:nvSpPr>
        <p:spPr>
          <a:xfrm>
            <a:off x="685800" y="31729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25880" y="31363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33375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congelada vs jerarquía actual del usuario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3611880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Text 25"/>
          <p:cNvSpPr/>
          <p:nvPr/>
        </p:nvSpPr>
        <p:spPr>
          <a:xfrm>
            <a:off x="685800" y="3703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25880" y="3666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de datos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325880" y="38679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columna tblLeads → destino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" y="4142232"/>
            <a:ext cx="813816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Text 29"/>
          <p:cNvSpPr/>
          <p:nvPr/>
        </p:nvSpPr>
        <p:spPr>
          <a:xfrm>
            <a:off x="685800" y="42336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325880" y="41970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y roadmap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325880" y="439826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completa y siguientes pasos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2377440" cy="857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640080" y="260604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tabla ancha a modelo relacional escalable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CONTEXTO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en números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dbProduction.tblLeads — origen legacy de intake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60020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502920" y="1600200"/>
            <a:ext cx="3886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731520" y="1828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por fila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ancha monolítica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60020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I"/>
          </a:p>
        </p:txBody>
      </p:sp>
      <p:sp>
        <p:nvSpPr>
          <p:cNvPr id="17" name="Shape 14"/>
          <p:cNvSpPr/>
          <p:nvPr/>
        </p:nvSpPr>
        <p:spPr>
          <a:xfrm>
            <a:off x="4663440" y="1600200"/>
            <a:ext cx="3886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8" name="Text 15"/>
          <p:cNvSpPr/>
          <p:nvPr/>
        </p:nvSpPr>
        <p:spPr>
          <a:xfrm>
            <a:off x="4892040" y="1828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147K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489204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en producción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 en migración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20040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I"/>
          </a:p>
        </p:txBody>
      </p:sp>
      <p:sp>
        <p:nvSpPr>
          <p:cNvPr id="22" name="Shape 19"/>
          <p:cNvSpPr/>
          <p:nvPr/>
        </p:nvSpPr>
        <p:spPr>
          <a:xfrm>
            <a:off x="502920" y="3200400"/>
            <a:ext cx="3886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3" name="Text 20"/>
          <p:cNvSpPr/>
          <p:nvPr/>
        </p:nvSpPr>
        <p:spPr>
          <a:xfrm>
            <a:off x="731520" y="3429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73152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destino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4251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relacional normalizado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20040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I"/>
          </a:p>
        </p:txBody>
      </p:sp>
      <p:sp>
        <p:nvSpPr>
          <p:cNvPr id="27" name="Shape 24"/>
          <p:cNvSpPr/>
          <p:nvPr/>
        </p:nvSpPr>
        <p:spPr>
          <a:xfrm>
            <a:off x="4663440" y="3200400"/>
            <a:ext cx="3886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Text 25"/>
          <p:cNvSpPr/>
          <p:nvPr/>
        </p:nvSpPr>
        <p:spPr>
          <a:xfrm>
            <a:off x="4892040" y="3429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~148K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48920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migrados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92040" y="4251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TNFG — migración completa (Jun 2026)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" y="4846320"/>
            <a:ext cx="813816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Text 29"/>
          <p:cNvSpPr/>
          <p:nvPr/>
        </p:nvSpPr>
        <p:spPr>
          <a:xfrm>
            <a:off x="685800" y="49651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central: una fila mezcla persona, legal, clínica, org, staff y notas — imposible de escalar sin deuda técnica.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SOLUCIÓN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pilares del diseño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clara de responsabilidades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196596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502920" y="1554480"/>
            <a:ext cx="19659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502920" y="16184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" y="210312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client_channel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client_address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lead_party + lead_party_injury_site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87752" y="1554480"/>
            <a:ext cx="1965960" cy="3246120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2587752" y="1554480"/>
            <a:ext cx="19659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2587752" y="16184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97480" y="210312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(núcleo)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lead_accident · legal · clinical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lead_injury · timeline · lead_insurance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lead_org_snapshot (org congelada)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72584" y="1554480"/>
            <a:ext cx="1965960" cy="324612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4672584" y="1554480"/>
            <a:ext cx="1965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4672584" y="16184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82312" y="210312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ref_attorney · ref_tx_location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ref_insurance_carrier (PIP / AT_FAULT)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hierarchy_membership + ref_company_office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party_kind · staff_kind · ref_severity_level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57416" y="1554480"/>
            <a:ext cx="1965960" cy="324612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6757416" y="1554480"/>
            <a:ext cx="1965960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6757416" y="16184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67144" y="210312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app_user ← g_users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lead_staff · lead_note (snapshot + comment)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lead_sync_flag · lead_status_event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entity_log · log_detail (I/U/D)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2377440" cy="857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640080" y="260604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modelo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Entidades, relaciones y flujo de migración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migración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independiente del ETL datamart — solo SELECT en producción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88720" y="1554480"/>
            <a:ext cx="411480" cy="41148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Text 9"/>
          <p:cNvSpPr/>
          <p:nvPr/>
        </p:nvSpPr>
        <p:spPr>
          <a:xfrm>
            <a:off x="1188720" y="1600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23160" y="1755648"/>
            <a:ext cx="2286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14" name="Shape 11"/>
          <p:cNvSpPr/>
          <p:nvPr/>
        </p:nvSpPr>
        <p:spPr>
          <a:xfrm>
            <a:off x="502920" y="210312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5" name="Text 12"/>
          <p:cNvSpPr/>
          <p:nvPr/>
        </p:nvSpPr>
        <p:spPr>
          <a:xfrm>
            <a:off x="502920" y="2167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+ seeds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6072" y="244144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TNFG vacío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91840" y="1554480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8" name="Text 15"/>
          <p:cNvSpPr/>
          <p:nvPr/>
        </p:nvSpPr>
        <p:spPr>
          <a:xfrm>
            <a:off x="3291840" y="1600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26280" y="1755648"/>
            <a:ext cx="2286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2606040" y="210312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2606040" y="2167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Catálogos prod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679192" y="244144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ref_*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394960" y="1554480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Text 21"/>
          <p:cNvSpPr/>
          <p:nvPr/>
        </p:nvSpPr>
        <p:spPr>
          <a:xfrm>
            <a:off x="5394960" y="1600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29400" y="1755648"/>
            <a:ext cx="2286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26" name="Shape 23"/>
          <p:cNvSpPr/>
          <p:nvPr/>
        </p:nvSpPr>
        <p:spPr>
          <a:xfrm>
            <a:off x="4709160" y="210312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7" name="Text 24"/>
          <p:cNvSpPr/>
          <p:nvPr/>
        </p:nvSpPr>
        <p:spPr>
          <a:xfrm>
            <a:off x="4709160" y="2167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82312" y="244144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app_user · hierarchy_membership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498080" y="155448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0" name="Text 27"/>
          <p:cNvSpPr/>
          <p:nvPr/>
        </p:nvSpPr>
        <p:spPr>
          <a:xfrm>
            <a:off x="7498080" y="1600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12280" y="210312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Text 29"/>
          <p:cNvSpPr/>
          <p:nvPr/>
        </p:nvSpPr>
        <p:spPr>
          <a:xfrm>
            <a:off x="6812280" y="2167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85432" y="244144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+ lead_* · client*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188720" y="32461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5" name="Text 32"/>
          <p:cNvSpPr/>
          <p:nvPr/>
        </p:nvSpPr>
        <p:spPr>
          <a:xfrm>
            <a:off x="1188720" y="32918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423160" y="3447288"/>
            <a:ext cx="2286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37" name="Shape 34"/>
          <p:cNvSpPr/>
          <p:nvPr/>
        </p:nvSpPr>
        <p:spPr>
          <a:xfrm>
            <a:off x="502920" y="37947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8" name="Text 35"/>
          <p:cNvSpPr/>
          <p:nvPr/>
        </p:nvSpPr>
        <p:spPr>
          <a:xfrm>
            <a:off x="502920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I/U/D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76072" y="41330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entity_log · log_detail · id_log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291840" y="32461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1" name="Text 38"/>
          <p:cNvSpPr/>
          <p:nvPr/>
        </p:nvSpPr>
        <p:spPr>
          <a:xfrm>
            <a:off x="3291840" y="32918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526280" y="3447288"/>
            <a:ext cx="2286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43" name="Shape 40"/>
          <p:cNvSpPr/>
          <p:nvPr/>
        </p:nvSpPr>
        <p:spPr>
          <a:xfrm>
            <a:off x="2606040" y="37947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4" name="Text 41"/>
          <p:cNvSpPr/>
          <p:nvPr/>
        </p:nvSpPr>
        <p:spPr>
          <a:xfrm>
            <a:off x="2606040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679192" y="41330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lead_note (comment)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394960" y="324612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7" name="Text 44"/>
          <p:cNvSpPr/>
          <p:nvPr/>
        </p:nvSpPr>
        <p:spPr>
          <a:xfrm>
            <a:off x="5394960" y="32918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709160" y="379476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9" name="Text 46"/>
          <p:cNvSpPr/>
          <p:nvPr/>
        </p:nvSpPr>
        <p:spPr>
          <a:xfrm>
            <a:off x="4709160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782312" y="41330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conteos + FKs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02920" y="502920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2" name="Text 49"/>
          <p:cNvSpPr/>
          <p:nvPr/>
        </p:nvSpPr>
        <p:spPr>
          <a:xfrm>
            <a:off x="685800" y="5093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(solo lectura)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85800" y="532180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dbProduction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tblLeads (~147K)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g_users (~2.5K)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tblLeadComments · ref_* catálogos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434840" y="562356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55" name="Shape 52"/>
          <p:cNvSpPr/>
          <p:nvPr/>
        </p:nvSpPr>
        <p:spPr>
          <a:xfrm>
            <a:off x="5257800" y="5029200"/>
            <a:ext cx="33832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6" name="Text 53"/>
          <p:cNvSpPr/>
          <p:nvPr/>
        </p:nvSpPr>
        <p:spPr>
          <a:xfrm>
            <a:off x="5440680" y="50932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5440680" y="532180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TNFG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lead + lead_* · client*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entity_log + log_detail (I/U/D)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lead_note (comments sync)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Orígenes legacy → tablas destino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fuente que Schema Dictionary (Migration Flow) y docs/MIGRATION_FLOW.md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1554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Tablas destino (principal)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dbProduction.tblLeads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· lead_timeline, lead_status_event · lead_org_snapshot · client, client_channel, client_address 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dbProduction.g_users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app_user · user_channel · hierarchy_membership · user_hr_period 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dbProduction.tblLeadComments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lead_note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ref_attorney · refTXLocations · refInsurance · refLeadStatus · …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ref_attorney, ref_tx_location, ref_insurance_carrier · refLeadStatus, refLegalStatus, refClinicalStatus, ref_lead_stage · ref_company, ref_company_office · ref_state, ref_injury_site, ref_severity_level, ref_at_fault_type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SGC LOGED / LOGEDDET (conceptual)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entity_log · log_detail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ER — correspondencia legacy → TNFG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origen de producción se descompone en tablas del modelo normalizado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Text 9"/>
          <p:cNvSpPr/>
          <p:nvPr/>
        </p:nvSpPr>
        <p:spPr>
          <a:xfrm>
            <a:off x="594360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tblLeads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175564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788920" y="1728216"/>
            <a:ext cx="502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15" name="Shape 12"/>
          <p:cNvSpPr/>
          <p:nvPr/>
        </p:nvSpPr>
        <p:spPr>
          <a:xfrm>
            <a:off x="3383280" y="1463040"/>
            <a:ext cx="5257800" cy="53035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Text 13"/>
          <p:cNvSpPr/>
          <p:nvPr/>
        </p:nvSpPr>
        <p:spPr>
          <a:xfrm>
            <a:off x="3493008" y="15727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intake normalizado  ·  lead · lead_* · client* · lead_party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2920" y="212140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8" name="Text 15"/>
          <p:cNvSpPr/>
          <p:nvPr/>
        </p:nvSpPr>
        <p:spPr>
          <a:xfrm>
            <a:off x="594360" y="21945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g_users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41401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788920" y="2386584"/>
            <a:ext cx="502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21" name="Shape 18"/>
          <p:cNvSpPr/>
          <p:nvPr/>
        </p:nvSpPr>
        <p:spPr>
          <a:xfrm>
            <a:off x="3383280" y="2121408"/>
            <a:ext cx="5257800" cy="53035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2" name="Text 19"/>
          <p:cNvSpPr/>
          <p:nvPr/>
        </p:nvSpPr>
        <p:spPr>
          <a:xfrm>
            <a:off x="3493008" y="22311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y jerarquía  ·  app_user · user_channel · hierarchy_membership · user_hr_period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2920" y="2779776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Text 21"/>
          <p:cNvSpPr/>
          <p:nvPr/>
        </p:nvSpPr>
        <p:spPr>
          <a:xfrm>
            <a:off x="594360" y="28529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tblLeadComments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" y="307238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2788920" y="3044952"/>
            <a:ext cx="502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27" name="Shape 24"/>
          <p:cNvSpPr/>
          <p:nvPr/>
        </p:nvSpPr>
        <p:spPr>
          <a:xfrm>
            <a:off x="3383280" y="2779776"/>
            <a:ext cx="5257800" cy="53035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Text 25"/>
          <p:cNvSpPr/>
          <p:nvPr/>
        </p:nvSpPr>
        <p:spPr>
          <a:xfrm>
            <a:off x="3493008" y="28895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Comentarios  ·  lead_note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2920" y="3438144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0" name="Text 27"/>
          <p:cNvSpPr/>
          <p:nvPr/>
        </p:nvSpPr>
        <p:spPr>
          <a:xfrm>
            <a:off x="594360" y="35112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ref_* (prod)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37307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2788920" y="3703320"/>
            <a:ext cx="502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33" name="Shape 30"/>
          <p:cNvSpPr/>
          <p:nvPr/>
        </p:nvSpPr>
        <p:spPr>
          <a:xfrm>
            <a:off x="3383280" y="3438144"/>
            <a:ext cx="5257800" cy="53035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4" name="Text 31"/>
          <p:cNvSpPr/>
          <p:nvPr/>
        </p:nvSpPr>
        <p:spPr>
          <a:xfrm>
            <a:off x="3493008" y="3547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Catálogos TNFG  ·  ref_attorney · ref_company · refLeadStatus · ref_*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02920" y="4096512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6" name="Text 33"/>
          <p:cNvSpPr/>
          <p:nvPr/>
        </p:nvSpPr>
        <p:spPr>
          <a:xfrm>
            <a:off x="594360" y="41696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LOGED / LOGEDDET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43891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788920" y="4361688"/>
            <a:ext cx="502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  <p:txBody>
          <a:bodyPr/>
          <a:lstStyle/>
          <a:p>
            <a:endParaRPr lang="en-NI"/>
          </a:p>
        </p:txBody>
      </p:sp>
      <p:sp>
        <p:nvSpPr>
          <p:cNvPr id="39" name="Shape 36"/>
          <p:cNvSpPr/>
          <p:nvPr/>
        </p:nvSpPr>
        <p:spPr>
          <a:xfrm>
            <a:off x="3383280" y="4096512"/>
            <a:ext cx="5257800" cy="53035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0" name="Text 37"/>
          <p:cNvSpPr/>
          <p:nvPr/>
        </p:nvSpPr>
        <p:spPr>
          <a:xfrm>
            <a:off x="3493008" y="4206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I/U/D  ·  entity_log · log_detail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02920" y="557784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2" name="Text 39"/>
          <p:cNvSpPr/>
          <p:nvPr/>
        </p:nvSpPr>
        <p:spPr>
          <a:xfrm>
            <a:off x="640080" y="5641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lead (1:1) → lead_accident · lead_legal · client → client_channel (1:N) · lead_party (1:N) · entity_log → log_detail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DIAGRAMA 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y jerarquía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Compañía → oficina · membership del staff · org congelada del caso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40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45720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ref_company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1051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id_company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1463040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3291840" y="1463040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ref_company_office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64992" y="181051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id_company_office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id_company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1463040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612648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hierarchy_level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99632" y="181051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id_hierarchy_level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2359152"/>
            <a:ext cx="2633472" cy="77724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45720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hierarchy_membership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0352" y="2746379"/>
            <a:ext cx="2487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membership_id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user_id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id_company_office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leader_user_id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359152"/>
            <a:ext cx="2633472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Shape 25"/>
          <p:cNvSpPr/>
          <p:nvPr/>
        </p:nvSpPr>
        <p:spPr>
          <a:xfrm>
            <a:off x="3291840" y="2359152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9" name="Text 26"/>
          <p:cNvSpPr/>
          <p:nvPr/>
        </p:nvSpPr>
        <p:spPr>
          <a:xfrm>
            <a:off x="329184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app_user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6499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id_user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id_company_office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126480" y="2359152"/>
            <a:ext cx="2633472" cy="768096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Shape 29"/>
          <p:cNvSpPr/>
          <p:nvPr/>
        </p:nvSpPr>
        <p:spPr>
          <a:xfrm>
            <a:off x="6126480" y="2359152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612648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user_access_grant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99632" y="2730477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grant_id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user_id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id_hierarchy_level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3255264"/>
            <a:ext cx="2633472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6" name="Shape 33"/>
          <p:cNvSpPr/>
          <p:nvPr/>
        </p:nvSpPr>
        <p:spPr>
          <a:xfrm>
            <a:off x="457200" y="3255264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Text 34"/>
          <p:cNvSpPr/>
          <p:nvPr/>
        </p:nvSpPr>
        <p:spPr>
          <a:xfrm>
            <a:off x="45720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user_hr_period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period_id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id_user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291840" y="3255264"/>
            <a:ext cx="2633472" cy="740664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0" name="Shape 37"/>
          <p:cNvSpPr/>
          <p:nvPr/>
        </p:nvSpPr>
        <p:spPr>
          <a:xfrm>
            <a:off x="3291840" y="3255264"/>
            <a:ext cx="263347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1" name="Text 38"/>
          <p:cNvSpPr/>
          <p:nvPr/>
        </p:nvSpPr>
        <p:spPr>
          <a:xfrm>
            <a:off x="329184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lead_org_snapshot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364992" y="363454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id_company_office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4" name="Shape 41"/>
          <p:cNvSpPr/>
          <p:nvPr/>
        </p:nvSpPr>
        <p:spPr>
          <a:xfrm>
            <a:off x="594360" y="438912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5" name="Text 42"/>
          <p:cNvSpPr/>
          <p:nvPr/>
        </p:nvSpPr>
        <p:spPr>
          <a:xfrm>
            <a:off x="804672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caso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1947672" y="4389120"/>
            <a:ext cx="146304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7" name="Text 44"/>
          <p:cNvSpPr/>
          <p:nvPr/>
        </p:nvSpPr>
        <p:spPr>
          <a:xfrm>
            <a:off x="2157984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3300984" y="4389120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9" name="Text 46"/>
          <p:cNvSpPr/>
          <p:nvPr/>
        </p:nvSpPr>
        <p:spPr>
          <a:xfrm>
            <a:off x="3511296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57200" y="453542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lead_org_snapshot congela directorate/region/office/pod/team/duo + id_company_office. hierarchy_membership = org actual del usuario.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DIAGRAMA 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y participantes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+ canales/dirección · lead_party (lesionado y copasajeros 1–5)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40"/>
            <a:ext cx="2633472" cy="621792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2633472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45720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1051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id_linked_user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1463039"/>
            <a:ext cx="2633472" cy="731523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3291840" y="1463040"/>
            <a:ext cx="2633472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client_channel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64992" y="1850267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id_channel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id_channel_type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1463039"/>
            <a:ext cx="2633472" cy="713229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633472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612648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client_address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99632" y="1834365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id_address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id_state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235915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45720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party_kind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035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id_party_kind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359152"/>
            <a:ext cx="2633472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Shape 25"/>
          <p:cNvSpPr/>
          <p:nvPr/>
        </p:nvSpPr>
        <p:spPr>
          <a:xfrm>
            <a:off x="3291840" y="2359152"/>
            <a:ext cx="263347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9" name="Text 26"/>
          <p:cNvSpPr/>
          <p:nvPr/>
        </p:nvSpPr>
        <p:spPr>
          <a:xfrm>
            <a:off x="329184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lead_party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64992" y="2738428"/>
            <a:ext cx="2487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id_lead_party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id_tx_location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126480" y="2359151"/>
            <a:ext cx="2633472" cy="713231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Shape 29"/>
          <p:cNvSpPr/>
          <p:nvPr/>
        </p:nvSpPr>
        <p:spPr>
          <a:xfrm>
            <a:off x="6126480" y="2359152"/>
            <a:ext cx="263347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612648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lead_party_injury_site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99632" y="273842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(party,site)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id_lead_party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id_injury_site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6" name="Shape 33"/>
          <p:cNvSpPr/>
          <p:nvPr/>
        </p:nvSpPr>
        <p:spPr>
          <a:xfrm>
            <a:off x="45720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Text 34"/>
          <p:cNvSpPr/>
          <p:nvPr/>
        </p:nvSpPr>
        <p:spPr>
          <a:xfrm>
            <a:off x="45720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ref_contact_channel_type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id_channel_type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29184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0" name="Shape 37"/>
          <p:cNvSpPr/>
          <p:nvPr/>
        </p:nvSpPr>
        <p:spPr>
          <a:xfrm>
            <a:off x="329184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1" name="Text 38"/>
          <p:cNvSpPr/>
          <p:nvPr/>
        </p:nvSpPr>
        <p:spPr>
          <a:xfrm>
            <a:off x="329184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ref_state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36499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id_state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12648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4" name="Shape 41"/>
          <p:cNvSpPr/>
          <p:nvPr/>
        </p:nvSpPr>
        <p:spPr>
          <a:xfrm>
            <a:off x="612648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5" name="Text 42"/>
          <p:cNvSpPr/>
          <p:nvPr/>
        </p:nvSpPr>
        <p:spPr>
          <a:xfrm>
            <a:off x="612648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ref_injury_site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19963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id_injury_site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8" name="Shape 45"/>
          <p:cNvSpPr/>
          <p:nvPr/>
        </p:nvSpPr>
        <p:spPr>
          <a:xfrm>
            <a:off x="594360" y="4389120"/>
            <a:ext cx="14630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9" name="Text 46"/>
          <p:cNvSpPr/>
          <p:nvPr/>
        </p:nvSpPr>
        <p:spPr>
          <a:xfrm>
            <a:off x="804672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1947672" y="438912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1" name="Text 48"/>
          <p:cNvSpPr/>
          <p:nvPr/>
        </p:nvSpPr>
        <p:spPr>
          <a:xfrm>
            <a:off x="2157984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3300984" y="4389120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3" name="Text 50"/>
          <p:cNvSpPr/>
          <p:nvPr/>
        </p:nvSpPr>
        <p:spPr>
          <a:xfrm>
            <a:off x="3511296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Copasajero: client propio + lead_party (TX, cita, severidad, sitios vía lead_party_injury_site).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DIAGRAMA 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del caso (lead)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Estado, stage, oficina, auditoría · timeline y eventos de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40"/>
            <a:ext cx="2633472" cy="804672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2633472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45720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50267"/>
            <a:ext cx="2487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id_lead_status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id_stage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id_company_office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1463040"/>
            <a:ext cx="2633472" cy="621792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3291840" y="1463040"/>
            <a:ext cx="2633472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lead_timeline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64992" y="181051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1463039"/>
            <a:ext cx="2633472" cy="713231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612648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lead_status_event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99632" y="1850267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event_id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changed_by_user_id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235915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45720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refLeadStatus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035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idLeadStatus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35915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Shape 25"/>
          <p:cNvSpPr/>
          <p:nvPr/>
        </p:nvSpPr>
        <p:spPr>
          <a:xfrm>
            <a:off x="3291840" y="2359152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9" name="Text 26"/>
          <p:cNvSpPr/>
          <p:nvPr/>
        </p:nvSpPr>
        <p:spPr>
          <a:xfrm>
            <a:off x="329184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ref_lead_stage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6499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id_stage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126480" y="235915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Shape 29"/>
          <p:cNvSpPr/>
          <p:nvPr/>
        </p:nvSpPr>
        <p:spPr>
          <a:xfrm>
            <a:off x="6126480" y="2359152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612648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refLegalStatus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9963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idLegalStatus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6" name="Shape 33"/>
          <p:cNvSpPr/>
          <p:nvPr/>
        </p:nvSpPr>
        <p:spPr>
          <a:xfrm>
            <a:off x="45720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Text 34"/>
          <p:cNvSpPr/>
          <p:nvPr/>
        </p:nvSpPr>
        <p:spPr>
          <a:xfrm>
            <a:off x="45720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refClinicalStatus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idClinicalStatus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0" name="Shape 37"/>
          <p:cNvSpPr/>
          <p:nvPr/>
        </p:nvSpPr>
        <p:spPr>
          <a:xfrm>
            <a:off x="594360" y="4389120"/>
            <a:ext cx="146304" cy="1463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1" name="Text 38"/>
          <p:cNvSpPr/>
          <p:nvPr/>
        </p:nvSpPr>
        <p:spPr>
          <a:xfrm>
            <a:off x="804672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1947672" y="4389120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3" name="Text 40"/>
          <p:cNvSpPr/>
          <p:nvPr/>
        </p:nvSpPr>
        <p:spPr>
          <a:xfrm>
            <a:off x="2157984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300984" y="4389120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5" name="Text 42"/>
          <p:cNvSpPr/>
          <p:nvPr/>
        </p:nvSpPr>
        <p:spPr>
          <a:xfrm>
            <a:off x="3511296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DIAGRAMA 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1:1 del caso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Accidente · legal · clínico · lesiones del lesionado principal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40"/>
            <a:ext cx="2633472" cy="786384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45720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lead_accident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66169"/>
            <a:ext cx="2487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id_location_type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id_at_fault_type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id_*_severity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1463039"/>
            <a:ext cx="2633472" cy="704881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3291840" y="1463040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lead_legal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64992" y="184231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id_attorney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id_legal_status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1463039"/>
            <a:ext cx="2633472" cy="704879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612648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lead_clinical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99632" y="184231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id_tx_location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id_clinical_status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2359152"/>
            <a:ext cx="2633472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45720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lead_injury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035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359152"/>
            <a:ext cx="2633472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Shape 25"/>
          <p:cNvSpPr/>
          <p:nvPr/>
        </p:nvSpPr>
        <p:spPr>
          <a:xfrm>
            <a:off x="3291840" y="2359152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9" name="Text 26"/>
          <p:cNvSpPr/>
          <p:nvPr/>
        </p:nvSpPr>
        <p:spPr>
          <a:xfrm>
            <a:off x="329184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lead_injury_site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6499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(lead,site)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id_injury_site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126480" y="235915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Shape 29"/>
          <p:cNvSpPr/>
          <p:nvPr/>
        </p:nvSpPr>
        <p:spPr>
          <a:xfrm>
            <a:off x="6126480" y="2359152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612648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ref_attorney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9963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id_attorney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id_state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6" name="Shape 33"/>
          <p:cNvSpPr/>
          <p:nvPr/>
        </p:nvSpPr>
        <p:spPr>
          <a:xfrm>
            <a:off x="45720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Text 34"/>
          <p:cNvSpPr/>
          <p:nvPr/>
        </p:nvSpPr>
        <p:spPr>
          <a:xfrm>
            <a:off x="45720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ref_tx_location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id_tx_location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29184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0" name="Shape 37"/>
          <p:cNvSpPr/>
          <p:nvPr/>
        </p:nvSpPr>
        <p:spPr>
          <a:xfrm>
            <a:off x="329184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1" name="Text 38"/>
          <p:cNvSpPr/>
          <p:nvPr/>
        </p:nvSpPr>
        <p:spPr>
          <a:xfrm>
            <a:off x="329184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ref_accident_location_type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36499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id_location_type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126480" y="325526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4" name="Shape 41"/>
          <p:cNvSpPr/>
          <p:nvPr/>
        </p:nvSpPr>
        <p:spPr>
          <a:xfrm>
            <a:off x="6126480" y="3255264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5" name="Text 42"/>
          <p:cNvSpPr/>
          <p:nvPr/>
        </p:nvSpPr>
        <p:spPr>
          <a:xfrm>
            <a:off x="612648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ref_at_fault_type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19963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id_at_fault_type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57200" y="4151376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8" name="Shape 45"/>
          <p:cNvSpPr/>
          <p:nvPr/>
        </p:nvSpPr>
        <p:spPr>
          <a:xfrm>
            <a:off x="457200" y="4151376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9" name="Text 46"/>
          <p:cNvSpPr/>
          <p:nvPr/>
        </p:nvSpPr>
        <p:spPr>
          <a:xfrm>
            <a:off x="457200" y="41879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ref_severity_level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30352" y="449884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id_severity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438144" y="4183380"/>
            <a:ext cx="3611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2" name="Shape 49"/>
          <p:cNvSpPr/>
          <p:nvPr/>
        </p:nvSpPr>
        <p:spPr>
          <a:xfrm>
            <a:off x="3575304" y="4274820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3" name="Text 50"/>
          <p:cNvSpPr/>
          <p:nvPr/>
        </p:nvSpPr>
        <p:spPr>
          <a:xfrm>
            <a:off x="3785616" y="42565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1:1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4928616" y="4274820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5" name="Text 52"/>
          <p:cNvSpPr/>
          <p:nvPr/>
        </p:nvSpPr>
        <p:spPr>
          <a:xfrm>
            <a:off x="5138928" y="42565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FK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DIAGRAMA 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scope PIP / AT_FAULT · roles PIP, AT_FAULT, PASSENGER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40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45720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ref_insurance_carrier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1051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id_carrier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catalog_scope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1463039"/>
            <a:ext cx="2633472" cy="938253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3291840" y="1463040"/>
            <a:ext cx="2633472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lead_insurance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64992" y="1874120"/>
            <a:ext cx="2487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id_lead_insurance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id_carrier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id_lead_party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1494844"/>
            <a:ext cx="2633472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63347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612648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lead_party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99632" y="185821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id_lead_party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party_sequence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594360" y="4389120"/>
            <a:ext cx="146304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804672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947672" y="4389120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7" name="Text 24"/>
          <p:cNvSpPr/>
          <p:nvPr/>
        </p:nvSpPr>
        <p:spPr>
          <a:xfrm>
            <a:off x="2157984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lead_insurance.id_lead_party enlaza seguro del copasajero. carrier_raw preserva texto legacy.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DIAGRAMA 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Operaciones, notas y auditoría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· notas · sync · log transaccional I/U/D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39"/>
            <a:ext cx="2633472" cy="713229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45720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entity_log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34365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id_log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entity_table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entity_pk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1463040"/>
            <a:ext cx="2633472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Shape 13"/>
          <p:cNvSpPr/>
          <p:nvPr/>
        </p:nvSpPr>
        <p:spPr>
          <a:xfrm>
            <a:off x="3291840" y="1463040"/>
            <a:ext cx="26334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Text 14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log_detail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64992" y="185026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id_log_detail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id_log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id_actor_user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1463040"/>
            <a:ext cx="2633472" cy="804578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Text 18"/>
          <p:cNvSpPr/>
          <p:nvPr/>
        </p:nvSpPr>
        <p:spPr>
          <a:xfrm>
            <a:off x="6126480" y="14996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lead_staff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99632" y="1850267"/>
            <a:ext cx="2487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id_lead_staff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id_user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id_staff_kind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2359151"/>
            <a:ext cx="2633472" cy="713231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5" name="Text 22"/>
          <p:cNvSpPr/>
          <p:nvPr/>
        </p:nvSpPr>
        <p:spPr>
          <a:xfrm>
            <a:off x="45720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lead_note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035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id_note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posted_by_user_id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359152"/>
            <a:ext cx="2633472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Shape 25"/>
          <p:cNvSpPr/>
          <p:nvPr/>
        </p:nvSpPr>
        <p:spPr>
          <a:xfrm>
            <a:off x="3291840" y="2359152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9" name="Text 26"/>
          <p:cNvSpPr/>
          <p:nvPr/>
        </p:nvSpPr>
        <p:spPr>
          <a:xfrm>
            <a:off x="329184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lead_sync_flag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6499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id_sync_flag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id_lead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126480" y="235915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Shape 29"/>
          <p:cNvSpPr/>
          <p:nvPr/>
        </p:nvSpPr>
        <p:spPr>
          <a:xfrm>
            <a:off x="6126480" y="2359152"/>
            <a:ext cx="263347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6126480" y="23957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staff_kind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99632" y="270662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id_staff_kind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3255264"/>
            <a:ext cx="2633472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6" name="Shape 33"/>
          <p:cNvSpPr/>
          <p:nvPr/>
        </p:nvSpPr>
        <p:spPr>
          <a:xfrm>
            <a:off x="457200" y="3255264"/>
            <a:ext cx="2633472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Text 34"/>
          <p:cNvSpPr/>
          <p:nvPr/>
        </p:nvSpPr>
        <p:spPr>
          <a:xfrm>
            <a:off x="457200" y="32918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app_user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0352" y="360273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id_user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0" name="Shape 37"/>
          <p:cNvSpPr/>
          <p:nvPr/>
        </p:nvSpPr>
        <p:spPr>
          <a:xfrm>
            <a:off x="594360" y="4389120"/>
            <a:ext cx="146304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1" name="Text 38"/>
          <p:cNvSpPr/>
          <p:nvPr/>
        </p:nvSpPr>
        <p:spPr>
          <a:xfrm>
            <a:off x="804672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1947672" y="4389120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3" name="Text 40"/>
          <p:cNvSpPr/>
          <p:nvPr/>
        </p:nvSpPr>
        <p:spPr>
          <a:xfrm>
            <a:off x="2157984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I/U/D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300984" y="4389120"/>
            <a:ext cx="14630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5" name="Text 42"/>
          <p:cNvSpPr/>
          <p:nvPr/>
        </p:nvSpPr>
        <p:spPr>
          <a:xfrm>
            <a:off x="3511296" y="43708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entity_log: 1 cabecera por registro (entity_table + entity_pk). log_detail: append-only I/U/D. id_log en filas transaccionales.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2377440" cy="857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640080" y="260604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tablas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almacena cada entidad del modelo destino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DICCIONARIO 1/4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Catálogos de referencia (producción)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Copiados desde dbProduction · lookup por FK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22326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almacena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ref_attorney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Abogados assignables: display_name, contract group, estado, emails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refTXLocations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Clínicas / sitios TX: nombre, grupo, dirección, geolocalización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refLeadStatus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Estados del intake: New Lead, Came In, Dropped, Locked Down…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refClinicalStatus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Estados clínicos: Pending, Treating, Finalized, Dropped…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refLegalStatus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Estados legales: Pending, Signed, Settled, No Case…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ref_lead_stage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comercial del lead: Prospect, Owned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ref_insurance_carrier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Aseguradoras PIP + AT_FAULT (catalog_scope)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ref_company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Compañías TNFG (1800 NO FAULT, 305, ICP…)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ref_company_office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Oficinas con ID estable: office_code CFL, MIA…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DICCIONARIO 2/4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Metadatos, org y persona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app + contactos del caso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almacena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party_kind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Tipos de participante: INJURED, CO_PASSENGER, DRIVER, WITNESS…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staff_kind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Roles de staff: SUBMITTER, INTAKE, CREATOR, UPDATER…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hierarchy_level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Niveles org: OFFICE → POD → TEAM → DUO (+ DIRECTORATE/REGION en snapshot)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hierarchy_membership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Jerarquía actual del staff: office, líder, is_leader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user_access_grant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Permisos explícitos adicionales (scope temporal o delegado)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user_hr_period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Pasadas HR cerradas (reingresos / bajas históricas)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demográficos: nombre, DOB, menor, idioma, id_linked_user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client_channel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Teléfonos y emails; primary + variantes legacy (source_tag)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client_address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Dirección postal: calle, ciudad, ref_state, ZIP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app_user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 operativo (g_users): email, jerarquía ACTUAL, oficina, HR 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DICCIONARIO 3/4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— núcleo y dominios 1:1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por caso · PK = id_lead (idLead legacy)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almacena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 intake: status, stage, oficina, origen, VIP/hot, create/update audit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lead_accident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Accidente: fecha DOA, estado, at-fault, rideshare, vehículo, police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lead_legal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Legal: abogado FK, status, firmas, DocuSign, abogado previo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lead_clinical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Clínico: clínica TX, status, citas, IDOT/LDOT, seguros texto legacy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lead_injury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Lesiones: descripción, fractura, ambulancia, hospital, X-ray/MRI/CT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lead_timeline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 de vida: came in, locked down, dropped, callback, razones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lead_org_snapshot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 congelada al crear: texto legacy tblLeads + id_company_office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lead_party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↔ lead: lesionado o copasajero 1–5, TX, cita, severidad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lead_party_injury_site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Sitios de lesión del copasajero (M:N con ref_injury_site)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lead_insurance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Seguros PIP / AT_FAULT / PASSENGER; FK carrier + id_lead_party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lead_injury_site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Sitios de lesión del lesionado principal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DICCIONARIO 4/4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integraciones y auditoría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del caso · log transaccional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almacena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lead_staff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 asignado: submitter, intake, creator, updater → app_user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lead_sync_flag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de integración: COR, AFF, ATTY, emails procesados…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lead_note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Notas: intake/accident/hospital (snapshot) + comment (tblLeadComments)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entity_log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Cabecera log por registro: entity_table + entity_pk UNIQUE, line_count ≈ LgCant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log_detail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Detalle append-only I/U/D: before/after JSON, actor, módulo, transacción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2377440" cy="857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640080" y="260604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del caso vs perfil del usuario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REGLAS DE NEGOCIO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congelada vs jerarquía actual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puede moverse de team; el lead conserva la org del momento de creación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508760"/>
            <a:ext cx="3977640" cy="3337560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502920" y="1508760"/>
            <a:ext cx="39776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del CASO (congelada)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" y="239572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lead_org_snapshot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(texto legacy + id_company_office)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lead.id_company_office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" y="3355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tblLeads al crear: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directorate → region → office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pod → team → duo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4114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para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" y="43159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históricos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Atribución congelada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del caso al intake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508760"/>
            <a:ext cx="3977640" cy="333756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1" name="Shape 18"/>
          <p:cNvSpPr/>
          <p:nvPr/>
        </p:nvSpPr>
        <p:spPr>
          <a:xfrm>
            <a:off x="4663440" y="1508760"/>
            <a:ext cx="3977640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2" name="Text 19"/>
          <p:cNvSpPr/>
          <p:nvPr/>
        </p:nvSpPr>
        <p:spPr>
          <a:xfrm>
            <a:off x="48006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del USUARIO (actual)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4632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46320" y="239572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hierarchy_membership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app_user.id_company_office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4632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46320" y="3355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g_users (sync periódico)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vigente hoy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46320" y="4114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para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46320" y="43159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staff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y roster actual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usar para org del caso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2377440" cy="857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640080" y="260604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de datos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tablas destino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MAPEO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tblLeads → destino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~178 columnas migradas · ~11 omitidas (redundantes o legacy)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Shape 9"/>
          <p:cNvSpPr/>
          <p:nvPr/>
        </p:nvSpPr>
        <p:spPr>
          <a:xfrm>
            <a:off x="502920" y="1463040"/>
            <a:ext cx="7315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3" name="Text 10"/>
          <p:cNvSpPr/>
          <p:nvPr/>
        </p:nvSpPr>
        <p:spPr>
          <a:xfrm>
            <a:off x="685800" y="1517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1700784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firstName, lastName, dob, phone, email, street…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85800" y="186537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client · client_channel · client_address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63440" y="146304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7" name="Shape 14"/>
          <p:cNvSpPr/>
          <p:nvPr/>
        </p:nvSpPr>
        <p:spPr>
          <a:xfrm>
            <a:off x="4663440" y="1463040"/>
            <a:ext cx="73152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8" name="Text 15"/>
          <p:cNvSpPr/>
          <p:nvPr/>
        </p:nvSpPr>
        <p:spPr>
          <a:xfrm>
            <a:off x="4846320" y="1517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1700784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idLead, leadStatus, sourceType, isVIP, creator…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46320" y="186537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lead + FKs a status / stage / office / user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2920" y="2176272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2" name="Shape 19"/>
          <p:cNvSpPr/>
          <p:nvPr/>
        </p:nvSpPr>
        <p:spPr>
          <a:xfrm>
            <a:off x="502920" y="2176272"/>
            <a:ext cx="7315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3" name="Text 20"/>
          <p:cNvSpPr/>
          <p:nvPr/>
        </p:nvSpPr>
        <p:spPr>
          <a:xfrm>
            <a:off x="685800" y="22311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congelada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2414016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directorate, region, team, pod, duo, officeLabel…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85800" y="257860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lead_org_snapshot + ref_company_office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663440" y="2176272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7" name="Shape 24"/>
          <p:cNvSpPr/>
          <p:nvPr/>
        </p:nvSpPr>
        <p:spPr>
          <a:xfrm>
            <a:off x="4663440" y="2176272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Text 25"/>
          <p:cNvSpPr/>
          <p:nvPr/>
        </p:nvSpPr>
        <p:spPr>
          <a:xfrm>
            <a:off x="4846320" y="22311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414016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pipInsurance, atfaultInsurance, psngrNInsurance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846320" y="257860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ref_insurance_carrier + lead_insurance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2920" y="2889504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Shape 29"/>
          <p:cNvSpPr/>
          <p:nvPr/>
        </p:nvSpPr>
        <p:spPr>
          <a:xfrm>
            <a:off x="502920" y="2889504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685800" y="2944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85800" y="312724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doa, atFaultType, policeReport, rideshare…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85800" y="329184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lead_accident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663440" y="2889504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Shape 34"/>
          <p:cNvSpPr/>
          <p:nvPr/>
        </p:nvSpPr>
        <p:spPr>
          <a:xfrm>
            <a:off x="4663440" y="2889504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8" name="Text 35"/>
          <p:cNvSpPr/>
          <p:nvPr/>
        </p:nvSpPr>
        <p:spPr>
          <a:xfrm>
            <a:off x="4846320" y="2944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Clínico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46320" y="312724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attorney, legalStatus, txLocation, clinicalStatus…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846320" y="329184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lead_legal · lead_clinical (FK catálogos)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02920" y="3602736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2" name="Shape 39"/>
          <p:cNvSpPr/>
          <p:nvPr/>
        </p:nvSpPr>
        <p:spPr>
          <a:xfrm>
            <a:off x="502920" y="3602736"/>
            <a:ext cx="7315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3" name="Text 40"/>
          <p:cNvSpPr/>
          <p:nvPr/>
        </p:nvSpPr>
        <p:spPr>
          <a:xfrm>
            <a:off x="685800" y="3657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Copasajeros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85800" y="384048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psngr1…5 (nombre, tel, TX, injuries)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85800" y="4005072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client + lead_party + lead_party_injury_site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663440" y="3602736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7" name="Shape 44"/>
          <p:cNvSpPr/>
          <p:nvPr/>
        </p:nvSpPr>
        <p:spPr>
          <a:xfrm>
            <a:off x="4663440" y="3602736"/>
            <a:ext cx="73152" cy="6400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8" name="Text 45"/>
          <p:cNvSpPr/>
          <p:nvPr/>
        </p:nvSpPr>
        <p:spPr>
          <a:xfrm>
            <a:off x="4846320" y="3657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/ Notas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846320" y="384048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tblLeads: submitter, intakeSpecialist, leadNotes, tblLeadComments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846320" y="4005072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lead_staff · lead_note (comment)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Núcleo del caso (1/3)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Metadatos, estado, flags e IDs legacy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idLead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lead.id_lead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preservada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leadStatus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lead.id_lead_status → refLeadStatus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→ FK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lead.id_stage → ref_lead_stage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→ FK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officeLabel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lead.id_company_office + lead_org_snapshot.office_code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→ FK catálogo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referralSource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lead.referral_source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sourceType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lead.source_type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internalSource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lead.internal_source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caseType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lead.case_type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accidentOrWC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lead.accident_or_wc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isVIP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lead.is_vip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isHotLead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lead.is_hot_lead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hotLeadStartTime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lead.hot_lead_start_at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boostYN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lead.boost_yn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confirmed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lead.confirmed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Núcleo del caso (2/3)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Metadatos, estado, flags e IDs legacy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cnvValue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lead.cnv_value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cbID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lead.callback_id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cbIDNew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lead.callback_id_new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isCallBack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lead.is_callback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isCallBackNew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lead.is_callback_new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leadSortOrder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lead.lead_sort_order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newLeads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lead.new_leads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idMedia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lead.id_media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linkToLeadRecord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lead.link_to_lead_record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intakeViewStepper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lead.intake_view_stepper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idAcc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lead.id_acc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idLeadOld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lead.id_lead_old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employer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lead.employer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requestedDrop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lead.requested_drop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Núcleo del caso (3/3)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Metadatos, estado, flags e IDs legacy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legacyLeadID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lead.legacy_lead_id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legacyCaseID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lead.legacy_case_id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creator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lead.created_by_user_id → app_user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→ FK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lead.created_at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lead.updated_by_user_id → app_user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→ FK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lead.updated_at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dateCreated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lead_timeline.date_created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2/13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Persona lesionada (1/2)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+ contactos + dirección (party principal INJURED)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client.display_name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Lesionado vía lead_party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client.first_name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client.last_name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dob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client.date_of_birth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isMinor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client.is_minor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preferredLanguage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client.preferred_language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phone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client_channel (PHONE_MOBILE, primary)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originalPhoneEntry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client_channel (PHONE_INTAKE_RAW)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source_tag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formattedPhoneEntry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client_channel (PHONE_INTAKE_FORMATTED)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client_channel (EMAIL_PERSONAL, primary)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street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client_address.street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kind RESIDENCE, primary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aptSuite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client_address.unit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client_address.city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residencyState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client_address.id_state → ref_state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estado → FK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2/13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Persona lesionada (2/2)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+ contactos + dirección (party principal INJURED)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zipCode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client_address.postal_code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3/13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Organización congelada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lead_org_snapshot — org al momento de crear el caso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directorate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lead_org_snapshot.directorate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congelado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directorateName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lead_org_snapshot.directorate_name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lead_org_snapshot.region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lead_org_snapshot.region_name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office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lead_org_snapshot.office_legacy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legacy office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officeName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lead_org_snapshot.office_name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lead_org_snapshot.pod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podName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lead_org_snapshot.pod_name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team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lead_org_snapshot.team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teamName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lead_org_snapshot.team_name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duo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lead_org_snapshot.duo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duoName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lead_org_snapshot.duo_name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4/13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Accidente (1/2)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lead_accident + catálogos FK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lead_accident.date_of_accident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accidentState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lead_accident.id_accident_state → ref_state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repState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lead_accident.id_rep_state → ref_state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locationType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lead_accident.id_location_type → ref_accident_location_type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UNK/AFF/COR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atFaultType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lead_accident.id_at_fault_type → ref_at_fault_type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atFaultSubType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lead_accident.id_at_fault_sub_type → ref_at_fault_type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vehicleModelYear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lead_accident.vehicle_description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libre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propertyDamage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lead_accident.id_property_severity → ref_severity_level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personalInjury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lead_accident.id_personal_severity → ref_severity_level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policeReport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lead_accident.police_report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drivingRideShare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lead_accident.driving_rideshare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psgInRideShare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lead_accident.passenger_in_rideshare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passengerCount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lead_accident.passenger_count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commercialPolicy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lead_accident.commercial_policy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4/13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Accidente (2/2)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lead_accident + catálogos FK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construction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lead_accident.construction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Truck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lead_accident.truck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5/13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Legal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lead_legal + ref_attorney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legalStatus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lead_legal.id_legal_status → refLegalStatus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attorney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lead_legal.id_attorney → ref_attorney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catálogo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attyFirm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ref_attorney.firm_name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 vista flat; no columna propia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attyContractGroup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ref_attorney.contract_group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 vista flat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signingDate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lead_legal.signing_at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dateSigned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lead_legal.date_signed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dateLegalAccepted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lead_legal.date_legal_accepted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dateLegalRejected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lead_legal.date_legal_rejected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ticketAttorney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lead_legal.ticket_attorney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hasPrevAtty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lead_legal.has_prev_attorney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prevAttyName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lead_legal.prev_attorney_name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isNewAtty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lead_legal.is_new_attorney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isDocuSigni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lead_legal.is_docusign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6/13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Clínico y seguros PIP/AT_FAULT (1/2)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lead_clinical + lead_insurance (roles PIP y AT_FAULT)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clinicalStatus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lead_clinical.id_clinical_status → refClinicalStatus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txLocation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lead_clinical.id_tx_location → ref_tx_location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clínica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txGroup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ref_tx_location.tx_group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 JOIN (no columna tblLeads en prod)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txContractGroup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ref_tx_location.tx_group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 txGroup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appointmentDateTime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lead_clinical.appointment_at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isTeleMedicine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lead_clinical.is_telemedicine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requiresTransportation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lead_clinical.requires_transportation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lead_clinical.visits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idot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lead_clinical.idot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ldot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lead_clinical.ldot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dateClinicalAccepted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lead_clinical.date_clinical_accepted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dateClinicalRejected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lead_clinical.date_clinical_rejected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hasUM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lead_clinical.has_um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pipInsurance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lead_insurance (PIP) → ref_insurance_carrier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carrier_raw si sin match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6/13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Clínico y seguros PIP/AT_FAULT (2/2)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lead_clinical + lead_insurance (roles PIP y AT_FAULT)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atfaultInsurance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lead_insurance (AT_FAULT) → ref_insurance_carrier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7/13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Lesiones del lesionado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lead_injury + lead_injury_site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injuries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lead_injury_site → ref_injury_site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tokenizado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fracture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lead_injury.fracture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ambulance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lead_injury.ambulance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hospital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lead_injury.hospital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hospitalName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lead_injury.hospital_name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xray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lead_injury.xray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mri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lead_injury.mri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ctScans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lead_injury.ct_scans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8/13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Timeline del caso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lead_timeline — hitos del ciclo de vida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dateCameIn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lead_timeline.date_came_in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dateLockedDown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lead_timeline.date_locked_down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dateDropped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lead_timeline.date_dropped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callbackDateTime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lead_timeline.callback_at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lkaDate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lead_timeline.lka_date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reasonPending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lead_timeline.reason_pending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reasonDrop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lead_timeline.reason_drop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otherDropReason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lead_timeline.other_drop_reason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9/13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Staff del caso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lead_staff + app_user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submitter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lead.submitter_user_id + lead_staff (SUBMITTER)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→ app_user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submitterName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lead_staff.staff_display_name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intakeSpecialist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lead_staff (INTAKE) → app_user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10/13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Notas y flags de sync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lead_note + lead_sync_flag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leadNotes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lead_note (note_type=intake)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snapshot por lead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accidentNotes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lead_note (note_type=accident)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hospitalNotes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lead_note (note_type=hospital)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(COR)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affProccesed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(AFF)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attyProccesed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(ATTY)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newLeadEmailProccesed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(NEW_LEAD_EMAIL)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lockDownEmailProccesed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(LOCKDOWN_EMAIL)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cameInEmailProccesed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(CAME_IN_EMAIL)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droppedEmailProccesed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lead_sync_flag (DROPPED_EMAIL)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11/13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Copasajeros (psngr1 … psngr5)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patrón por party_sequence N = 1..5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psngrNFirstName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client.first_name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lead_party CO_PASSENGER seq 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psngrNLastName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client.last_name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psngrNDOB / psngr3DOB2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client.date_of_birth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psngrNIsMinor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client.is_minor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psngrNPhone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client_channel (PHONE primary)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psngrNInsurance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lead_insurance (PASSENGER, party_sequence=N)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ref_insurance_carrier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psngrNTXLoc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lead_party.id_tx_location → ref_tx_location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psngrNAppDateTime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lead_party.appointment_at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psngrNInjuries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lead_party_injury_site + id_personal_severity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Sitios + severidad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12/13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Origen adicional (no es columna tblLeads)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separada en producción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tblLeadComments.*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lead_note (note_type=comment)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id_note = idComment; ~351K filas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ÍNDICE COLUMNAS 13/13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tblLeads → destino: Columnas NO migradas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en v_tblLeads o fuera de alcance fase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TNFG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funder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Metadato interno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accessLevel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usado app nueva fase 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regionLabel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Typo/variante; org → lead_org_snapshot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regionLable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Typo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officeKey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Variante officeLabel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Typo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Typo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 Sent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operativo legacy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 Name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Duplicado basura de name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DETALLE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lead_org_snapshot — Jerarquía congelada al crear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con lead · texto legacy + id_company_office · No cambia si g_users cambia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 destino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directorate / directorate_name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directorate / directorateName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Directorate congelado (texto)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 / region_name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 / regionName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Región congelada (texto)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office_code / office_name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officeLabel / officeName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Oficina del caso (texto)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id_company_office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officeLabel → catálogo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ref_company_office si mapea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pod / team / duo (+ *_name)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pod, team, duo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Niveles inferiores congelados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DETALLE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lead_insurance — Seguros estructurados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ref_insurance_carrier · roles PIP / AT_FAULT / PASSENGER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 destino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insurance_role = PIP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pipInsurance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Seguro PIP del lesionado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insurance_role = AT_FAULT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atfaultInsurance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Seguro del at-fault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insurance_role = PASSENGER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psngr1…5 Insurance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party_sequence 1–5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id_carrier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ref_insurance_carrier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FK catálogo normalizado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carrier_raw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original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legacy preservado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DETALLE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hierarchy_membership — Jerarquía actual del staff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desde g_users · OFFICE usa ref_company_office · POD/TEAM/DUO usan leader_user_id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level_code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representa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OFFICE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id_company_office + leader_user_id opcional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leader_user_id = jefe del pod; is_leader distingue miembros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TEAM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Mismo patrón: líder + reportes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Parejas operativas (duo leader)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is_leader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= jefe en ese nivel; 0 = miembro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lead_org_snapshot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Membership = org HOY; snapshot = org al crear el caso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DETALLE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+ client — Campos clave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 principales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 tblLeads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lead.id_lead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preservada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lead.id_lead_status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FK refLeadStatus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lead.submitter_user_id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→ app_user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 + channel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firstName, phone, email…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1:N teléfonos con source_tag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lead_party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psngr1…5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Copasajeros como CO_PASSENGER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DETALLE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no migradas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Redundantes, typos legacy o fuera de alcance fase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regionLabel, officeKey, dou…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Variantes / typos legacy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attyFirm, attyContractGroup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 en ref_attorney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funder, accessLevel, LD Sent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Operativo legacy — fase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 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Duplicado de 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2377440" cy="857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Shape 1"/>
          <p:cNvSpPr/>
          <p:nvPr/>
        </p:nvSpPr>
        <p:spPr>
          <a:xfrm>
            <a:off x="640080" y="260604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y roadmap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completa — camino a producción app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ESTADO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completada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TNFG @ 34.58.244.128 — Junio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554480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Text 9"/>
          <p:cNvSpPr/>
          <p:nvPr/>
        </p:nvSpPr>
        <p:spPr>
          <a:xfrm>
            <a:off x="685800" y="1645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~148K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103120" y="1664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migrados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03120" y="1938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normalizado completo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554480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Text 13"/>
          <p:cNvSpPr/>
          <p:nvPr/>
        </p:nvSpPr>
        <p:spPr>
          <a:xfrm>
            <a:off x="4846320" y="1645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~352K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63640" y="1664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1938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tblLeadComments → lead_note (comment)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2514600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Text 17"/>
          <p:cNvSpPr/>
          <p:nvPr/>
        </p:nvSpPr>
        <p:spPr>
          <a:xfrm>
            <a:off x="68580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~41K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103120" y="2624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Seguros party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03120" y="2898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lead_insurance.id_lead_party (copasajeros)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2514600"/>
            <a:ext cx="3977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Text 21"/>
          <p:cNvSpPr/>
          <p:nvPr/>
        </p:nvSpPr>
        <p:spPr>
          <a:xfrm>
            <a:off x="484632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397+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263640" y="2624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Aseguradoras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63640" y="2898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ref_insurance_carrier (PIP + AT_FAULT)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3566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Comandos: bootstrap · copy-catalogs · copy-users · migrate · sync:lead-comments · validate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3931920"/>
            <a:ext cx="1536192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9" name="Text 26"/>
          <p:cNvSpPr/>
          <p:nvPr/>
        </p:nvSpPr>
        <p:spPr>
          <a:xfrm>
            <a:off x="502920" y="405079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bootstrap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130552" y="3931920"/>
            <a:ext cx="1536192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1" name="Text 28"/>
          <p:cNvSpPr/>
          <p:nvPr/>
        </p:nvSpPr>
        <p:spPr>
          <a:xfrm>
            <a:off x="2130552" y="405079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migrate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758184" y="3931920"/>
            <a:ext cx="1536192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3" name="Text 30"/>
          <p:cNvSpPr/>
          <p:nvPr/>
        </p:nvSpPr>
        <p:spPr>
          <a:xfrm>
            <a:off x="3758184" y="405079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sync:lead-comments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385816" y="3931920"/>
            <a:ext cx="1536192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5" name="Text 32"/>
          <p:cNvSpPr/>
          <p:nvPr/>
        </p:nvSpPr>
        <p:spPr>
          <a:xfrm>
            <a:off x="5385816" y="405079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validate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013448" y="3931920"/>
            <a:ext cx="1536192" cy="502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7" name="Text 34"/>
          <p:cNvSpPr/>
          <p:nvPr/>
        </p:nvSpPr>
        <p:spPr>
          <a:xfrm>
            <a:off x="7013448" y="405079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docs:word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4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producción del modelo normalizado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8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"/>
            <a:ext cx="2331720" cy="84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tblLeads · TNFG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1508760"/>
            <a:ext cx="18288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2" name="Text 9"/>
          <p:cNvSpPr/>
          <p:nvPr/>
        </p:nvSpPr>
        <p:spPr>
          <a:xfrm>
            <a:off x="594360" y="1764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 plazo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8880" y="1508760"/>
            <a:ext cx="6172200" cy="256032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4" name="Text 11"/>
          <p:cNvSpPr/>
          <p:nvPr/>
        </p:nvSpPr>
        <p:spPr>
          <a:xfrm>
            <a:off x="2606040" y="154533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del modelo con stakeholders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68880" y="1801368"/>
            <a:ext cx="6172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6" name="Text 13"/>
          <p:cNvSpPr/>
          <p:nvPr/>
        </p:nvSpPr>
        <p:spPr>
          <a:xfrm>
            <a:off x="2606040" y="183794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checks vs tblLeads origen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68880" y="2093976"/>
            <a:ext cx="6172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18" name="Text 15"/>
          <p:cNvSpPr/>
          <p:nvPr/>
        </p:nvSpPr>
        <p:spPr>
          <a:xfrm>
            <a:off x="2606040" y="21305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por oficina / team (org snapshot)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2560320"/>
            <a:ext cx="18288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0" name="Text 17"/>
          <p:cNvSpPr/>
          <p:nvPr/>
        </p:nvSpPr>
        <p:spPr>
          <a:xfrm>
            <a:off x="594360" y="28163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Mediano plazo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468880" y="2560320"/>
            <a:ext cx="6172200" cy="256032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2" name="Text 19"/>
          <p:cNvSpPr/>
          <p:nvPr/>
        </p:nvSpPr>
        <p:spPr>
          <a:xfrm>
            <a:off x="2606040" y="259689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de la app nueva sobre TNFG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468880" y="2852928"/>
            <a:ext cx="6172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4" name="Text 21"/>
          <p:cNvSpPr/>
          <p:nvPr/>
        </p:nvSpPr>
        <p:spPr>
          <a:xfrm>
            <a:off x="2606040" y="288950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tblLeads_flat para transición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468880" y="3145536"/>
            <a:ext cx="6172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6" name="Text 23"/>
          <p:cNvSpPr/>
          <p:nvPr/>
        </p:nvSpPr>
        <p:spPr>
          <a:xfrm>
            <a:off x="2606040" y="318211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adicionales según queries de app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3611880"/>
            <a:ext cx="18288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28" name="Text 25"/>
          <p:cNvSpPr/>
          <p:nvPr/>
        </p:nvSpPr>
        <p:spPr>
          <a:xfrm>
            <a:off x="594360" y="38679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3611880"/>
            <a:ext cx="6172200" cy="256032"/>
          </a:xfrm>
          <a:prstGeom prst="rect">
            <a:avLst/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0" name="Text 27"/>
          <p:cNvSpPr/>
          <p:nvPr/>
        </p:nvSpPr>
        <p:spPr>
          <a:xfrm>
            <a:off x="2606040" y="364845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incremental post go-live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904488"/>
            <a:ext cx="6172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2" name="Text 29"/>
          <p:cNvSpPr/>
          <p:nvPr/>
        </p:nvSpPr>
        <p:spPr>
          <a:xfrm>
            <a:off x="2606040" y="394106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Enriquecer catálogo de aseguradoras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468880" y="4197096"/>
            <a:ext cx="6172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sp>
        <p:nvSpPr>
          <p:cNvPr id="34" name="Text 31"/>
          <p:cNvSpPr/>
          <p:nvPr/>
        </p:nvSpPr>
        <p:spPr>
          <a:xfrm>
            <a:off x="2606040" y="42336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Deprecar dependencias de tblLeads wide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NI"/>
          </a:p>
        </p:txBody>
      </p:sp>
      <p:pic>
        <p:nvPicPr>
          <p:cNvPr id="3" name="Image 0" descr="/Users/milagrosruiz/noFault/lead-normalize-migration/docs/assets/tnf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02920"/>
            <a:ext cx="2926080" cy="10558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técnica: docs/MODELO_Y_MAPEO.md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lead-normalize-migration · TNFG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23067</TotalTime>
  <Words>5578</Words>
  <Application>Microsoft Macintosh PowerPoint</Application>
  <PresentationFormat>On-screen Show (16:9)</PresentationFormat>
  <Paragraphs>1240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Datos Intake Normalizado</dc:title>
  <dc:subject>Migración tblLeads → TNFG</dc:subject>
  <dc:creator>TNFG Data Engineering</dc:creator>
  <cp:lastModifiedBy>Milagros Ruiz Oporta</cp:lastModifiedBy>
  <cp:revision>3</cp:revision>
  <dcterms:created xsi:type="dcterms:W3CDTF">2026-07-08T15:46:18Z</dcterms:created>
  <dcterms:modified xsi:type="dcterms:W3CDTF">2026-07-24T20:01:26Z</dcterms:modified>
</cp:coreProperties>
</file>